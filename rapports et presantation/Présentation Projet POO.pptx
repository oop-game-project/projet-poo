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3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League Spartan" charset="1" panose="00000800000000000000"/>
      <p:regular r:id="rId16"/>
    </p:embeddedFont>
    <p:embeddedFont>
      <p:font typeface="Roboto Bold Italics" charset="1" panose="02000000000000000000"/>
      <p:regular r:id="rId17"/>
    </p:embeddedFont>
    <p:embeddedFont>
      <p:font typeface="Poppins Bold" charset="1" panose="00000800000000000000"/>
      <p:regular r:id="rId18"/>
    </p:embeddedFont>
    <p:embeddedFont>
      <p:font typeface="Poppins Bold Italics" charset="1" panose="00000800000000000000"/>
      <p:regular r:id="rId19"/>
    </p:embeddedFont>
    <p:embeddedFont>
      <p:font typeface="Alice Bold" charset="1" panose="00000500000000000000"/>
      <p:regular r:id="rId20"/>
    </p:embeddedFont>
    <p:embeddedFont>
      <p:font typeface="Alice Bold Italics" charset="1" panose="000005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notesMasters/notesMaster1.xml" Type="http://schemas.openxmlformats.org/officeDocument/2006/relationships/notesMaster"/><Relationship Id="rId14" Target="theme/theme2.xml" Type="http://schemas.openxmlformats.org/officeDocument/2006/relationships/theme"/><Relationship Id="rId15" Target="notesSlides/notesSlide1.xml" Type="http://schemas.openxmlformats.org/officeDocument/2006/relationships/notes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258683" y="29853"/>
            <a:ext cx="5029317" cy="2824447"/>
          </a:xfrm>
          <a:custGeom>
            <a:avLst/>
            <a:gdLst/>
            <a:ahLst/>
            <a:cxnLst/>
            <a:rect r="r" b="b" t="t" l="l"/>
            <a:pathLst>
              <a:path h="2824447" w="5029317">
                <a:moveTo>
                  <a:pt x="0" y="0"/>
                </a:moveTo>
                <a:lnTo>
                  <a:pt x="5029317" y="0"/>
                </a:lnTo>
                <a:lnTo>
                  <a:pt x="5029317" y="2824447"/>
                </a:lnTo>
                <a:lnTo>
                  <a:pt x="0" y="28244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9240" r="0" b="-2882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99075"/>
            <a:ext cx="3235385" cy="2867661"/>
          </a:xfrm>
          <a:custGeom>
            <a:avLst/>
            <a:gdLst/>
            <a:ahLst/>
            <a:cxnLst/>
            <a:rect r="r" b="b" t="t" l="l"/>
            <a:pathLst>
              <a:path h="2867661" w="3235385">
                <a:moveTo>
                  <a:pt x="0" y="0"/>
                </a:moveTo>
                <a:lnTo>
                  <a:pt x="3235385" y="0"/>
                </a:lnTo>
                <a:lnTo>
                  <a:pt x="3235385" y="2867661"/>
                </a:lnTo>
                <a:lnTo>
                  <a:pt x="0" y="28676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11" t="-7692" r="-1011" b="-7413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946523" y="3428780"/>
            <a:ext cx="14394954" cy="1302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52"/>
              </a:lnSpc>
            </a:pPr>
            <a:r>
              <a:rPr lang="en-US" b="true" sz="76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PRÉSENTATION PROJET POO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048816" y="5203279"/>
            <a:ext cx="5934948" cy="962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94"/>
              </a:lnSpc>
            </a:pPr>
            <a:r>
              <a:rPr lang="en-US" b="true" sz="5567" i="true">
                <a:solidFill>
                  <a:srgbClr val="004AAD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JEU STRATÉGIQUE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8854" y="8302470"/>
            <a:ext cx="15289252" cy="1756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7"/>
              </a:lnSpc>
            </a:pPr>
            <a:r>
              <a:rPr lang="en-US" b="true" sz="249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Aymene Bouzouaoui          242431620318 G2</a:t>
            </a:r>
          </a:p>
          <a:p>
            <a:pPr algn="l">
              <a:lnSpc>
                <a:spcPts val="3487"/>
              </a:lnSpc>
            </a:pPr>
            <a:r>
              <a:rPr lang="en-US" b="true" sz="249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Maria Bendaoud                    232331531207 G2</a:t>
            </a:r>
          </a:p>
          <a:p>
            <a:pPr algn="l">
              <a:lnSpc>
                <a:spcPts val="3487"/>
              </a:lnSpc>
            </a:pPr>
            <a:r>
              <a:rPr lang="en-US" b="true" sz="249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Sabrina Amrane                   242431486706 G2</a:t>
            </a:r>
          </a:p>
          <a:p>
            <a:pPr algn="l">
              <a:lnSpc>
                <a:spcPts val="3487"/>
              </a:lnSpc>
              <a:spcBef>
                <a:spcPct val="0"/>
              </a:spcBef>
            </a:pPr>
            <a:r>
              <a:rPr lang="en-US" b="true" sz="249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Rania Belgourai                     242431486519 G1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-1603969" y="7580394"/>
            <a:ext cx="6443322" cy="524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82"/>
              </a:lnSpc>
              <a:spcBef>
                <a:spcPct val="0"/>
              </a:spcBef>
            </a:pPr>
            <a:r>
              <a:rPr lang="en-US" b="true" sz="2987" i="true">
                <a:solidFill>
                  <a:srgbClr val="000000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Réalisé par :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814638" y="2051213"/>
            <a:ext cx="9525" cy="48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42"/>
              </a:lnSpc>
              <a:spcBef>
                <a:spcPct val="0"/>
              </a:spcBef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3107363" y="391824"/>
            <a:ext cx="3957600" cy="3401636"/>
          </a:xfrm>
          <a:custGeom>
            <a:avLst/>
            <a:gdLst/>
            <a:ahLst/>
            <a:cxnLst/>
            <a:rect r="r" b="b" t="t" l="l"/>
            <a:pathLst>
              <a:path h="3401636" w="3957600">
                <a:moveTo>
                  <a:pt x="0" y="0"/>
                </a:moveTo>
                <a:lnTo>
                  <a:pt x="3957600" y="0"/>
                </a:lnTo>
                <a:lnTo>
                  <a:pt x="3957600" y="3401636"/>
                </a:lnTo>
                <a:lnTo>
                  <a:pt x="0" y="34016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801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45034" y="522576"/>
            <a:ext cx="8398966" cy="897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6"/>
              </a:lnSpc>
            </a:pPr>
            <a:r>
              <a:rPr lang="en-US" sz="5147">
                <a:solidFill>
                  <a:srgbClr val="004AAD"/>
                </a:solidFill>
                <a:latin typeface="Alice Bold"/>
                <a:ea typeface="Alice Bold"/>
                <a:cs typeface="Alice Bold"/>
                <a:sym typeface="Alice Bold"/>
              </a:rPr>
              <a:t>Présentation générale du Jeu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0" y="2463638"/>
            <a:ext cx="14743465" cy="3439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3141" indent="-351570" lvl="1">
              <a:lnSpc>
                <a:spcPts val="4559"/>
              </a:lnSpc>
              <a:buFont typeface="Arial"/>
              <a:buChar char="•"/>
            </a:pPr>
            <a:r>
              <a:rPr lang="en-US" sz="3256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Jeu </a:t>
            </a:r>
            <a:r>
              <a:rPr lang="en-US" sz="3256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stratégique en mode console.</a:t>
            </a:r>
          </a:p>
          <a:p>
            <a:pPr algn="l">
              <a:lnSpc>
                <a:spcPts val="4559"/>
              </a:lnSpc>
            </a:pPr>
          </a:p>
          <a:p>
            <a:pPr algn="l" marL="703141" indent="-351570" lvl="1">
              <a:lnSpc>
                <a:spcPts val="4559"/>
              </a:lnSpc>
              <a:buFont typeface="Arial"/>
              <a:buChar char="•"/>
            </a:pPr>
            <a:r>
              <a:rPr lang="en-US" sz="3256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Objectif : appliquer les concepts POO (héritage, polymorphisme, encapsulation).</a:t>
            </a:r>
          </a:p>
          <a:p>
            <a:pPr algn="l">
              <a:lnSpc>
                <a:spcPts val="4559"/>
              </a:lnSpc>
            </a:pPr>
          </a:p>
          <a:p>
            <a:pPr algn="l" marL="703141" indent="-351570" lvl="1">
              <a:lnSpc>
                <a:spcPts val="4559"/>
              </a:lnSpc>
              <a:buFont typeface="Arial"/>
              <a:buChar char="•"/>
            </a:pPr>
            <a:r>
              <a:rPr lang="en-US" sz="3256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Mécaniques : gestion de ressources, unités, bâtiments, combats</a:t>
            </a:r>
          </a:p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95218" y="2545949"/>
            <a:ext cx="11259675" cy="5682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2602" indent="-376301" lvl="1">
              <a:lnSpc>
                <a:spcPts val="4880"/>
              </a:lnSpc>
              <a:buFont typeface="Arial"/>
              <a:buChar char="•"/>
            </a:pPr>
            <a:r>
              <a:rPr lang="en-US" sz="3485" i="true">
                <a:solidFill>
                  <a:srgbClr val="000000"/>
                </a:solidFill>
                <a:latin typeface="Alice Bold Italics"/>
                <a:ea typeface="Alice Bold Italics"/>
                <a:cs typeface="Alice Bold Italics"/>
                <a:sym typeface="Alice Bold Italics"/>
              </a:rPr>
              <a:t>Définition des packages + classes centrales</a:t>
            </a:r>
          </a:p>
          <a:p>
            <a:pPr algn="l">
              <a:lnSpc>
                <a:spcPts val="4880"/>
              </a:lnSpc>
            </a:pPr>
          </a:p>
          <a:p>
            <a:pPr algn="l" marL="752602" indent="-376301" lvl="1">
              <a:lnSpc>
                <a:spcPts val="4880"/>
              </a:lnSpc>
              <a:buFont typeface="Arial"/>
              <a:buChar char="•"/>
            </a:pPr>
            <a:r>
              <a:rPr lang="en-US" sz="3485" i="true">
                <a:solidFill>
                  <a:srgbClr val="000000"/>
                </a:solidFill>
                <a:latin typeface="Alice Bold Italics"/>
                <a:ea typeface="Alice Bold Italics"/>
                <a:cs typeface="Alice Bold Italics"/>
                <a:sym typeface="Alice Bold Italics"/>
              </a:rPr>
              <a:t>Mise en place des abstractions :</a:t>
            </a:r>
          </a:p>
          <a:p>
            <a:pPr algn="l">
              <a:lnSpc>
                <a:spcPts val="4880"/>
              </a:lnSpc>
            </a:pPr>
          </a:p>
          <a:p>
            <a:pPr algn="l">
              <a:lnSpc>
                <a:spcPts val="4880"/>
              </a:lnSpc>
            </a:pPr>
            <a:r>
              <a:rPr lang="en-US" sz="3485" i="true">
                <a:solidFill>
                  <a:srgbClr val="000000"/>
                </a:solidFill>
                <a:latin typeface="Alice Bold Italics"/>
                <a:ea typeface="Alice Bold Italics"/>
                <a:cs typeface="Alice Bold Italics"/>
                <a:sym typeface="Alice Bold Italics"/>
              </a:rPr>
              <a:t>       Unit (abstraite) : base des unités</a:t>
            </a:r>
          </a:p>
          <a:p>
            <a:pPr algn="l">
              <a:lnSpc>
                <a:spcPts val="4880"/>
              </a:lnSpc>
            </a:pPr>
            <a:r>
              <a:rPr lang="en-US" sz="3485" i="true">
                <a:solidFill>
                  <a:srgbClr val="000000"/>
                </a:solidFill>
                <a:latin typeface="Alice Bold Italics"/>
                <a:ea typeface="Alice Bold Italics"/>
                <a:cs typeface="Alice Bold Italics"/>
                <a:sym typeface="Alice Bold Italics"/>
              </a:rPr>
              <a:t>       Building (abstraite) : base des bâtiments</a:t>
            </a:r>
          </a:p>
          <a:p>
            <a:pPr algn="l">
              <a:lnSpc>
                <a:spcPts val="4880"/>
              </a:lnSpc>
            </a:pPr>
          </a:p>
          <a:p>
            <a:pPr algn="l" marL="224966" indent="-112483" lvl="1">
              <a:lnSpc>
                <a:spcPts val="1458"/>
              </a:lnSpc>
              <a:buFont typeface="Arial"/>
              <a:buChar char="•"/>
            </a:pPr>
          </a:p>
          <a:p>
            <a:pPr algn="l" marL="752602" indent="-376301" lvl="1">
              <a:lnSpc>
                <a:spcPts val="4880"/>
              </a:lnSpc>
              <a:buFont typeface="Arial"/>
              <a:buChar char="•"/>
            </a:pPr>
            <a:r>
              <a:rPr lang="en-US" sz="3485" i="true">
                <a:solidFill>
                  <a:srgbClr val="000000"/>
                </a:solidFill>
                <a:latin typeface="Alice Bold Italics"/>
                <a:ea typeface="Alice Bold Italics"/>
                <a:cs typeface="Alice Bold Italics"/>
                <a:sym typeface="Alice Bold Italics"/>
              </a:rPr>
              <a:t>Interfaces (ex : Attackable, Drawable, Upgradable)</a:t>
            </a:r>
          </a:p>
          <a:p>
            <a:pPr algn="l" marL="752602" indent="-376301" lvl="1">
              <a:lnSpc>
                <a:spcPts val="4880"/>
              </a:lnSpc>
              <a:buFont typeface="Arial"/>
              <a:buChar char="•"/>
            </a:pPr>
            <a:r>
              <a:rPr lang="en-US" sz="3485" i="true">
                <a:solidFill>
                  <a:srgbClr val="000000"/>
                </a:solidFill>
                <a:latin typeface="Alice Bold Italics"/>
                <a:ea typeface="Alice Bold Italics"/>
                <a:cs typeface="Alice Bold Italics"/>
                <a:sym typeface="Alice Bold Italics"/>
              </a:rPr>
              <a:t>Gestion joueur + ressources via Map&lt;String, Integer&gt;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4339936" y="588107"/>
            <a:ext cx="2919364" cy="3122961"/>
          </a:xfrm>
          <a:custGeom>
            <a:avLst/>
            <a:gdLst/>
            <a:ahLst/>
            <a:cxnLst/>
            <a:rect r="r" b="b" t="t" l="l"/>
            <a:pathLst>
              <a:path h="3122961" w="2919364">
                <a:moveTo>
                  <a:pt x="0" y="0"/>
                </a:moveTo>
                <a:lnTo>
                  <a:pt x="2919364" y="0"/>
                </a:lnTo>
                <a:lnTo>
                  <a:pt x="2919364" y="3122960"/>
                </a:lnTo>
                <a:lnTo>
                  <a:pt x="0" y="31229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486" t="0" r="-3486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-2575054" y="464282"/>
            <a:ext cx="12833307" cy="1005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30"/>
              </a:lnSpc>
              <a:spcBef>
                <a:spcPct val="0"/>
              </a:spcBef>
            </a:pPr>
            <a:r>
              <a:rPr lang="en-US" sz="5807">
                <a:solidFill>
                  <a:srgbClr val="004AAD"/>
                </a:solidFill>
                <a:latin typeface="Alice Bold"/>
                <a:ea typeface="Alice Bold"/>
                <a:cs typeface="Alice Bold"/>
                <a:sym typeface="Alice Bold"/>
              </a:rPr>
              <a:t>Architecture de jeu</a:t>
            </a: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06243" y="2594533"/>
            <a:ext cx="11450687" cy="7486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8573" indent="-364287" lvl="1">
              <a:lnSpc>
                <a:spcPts val="4724"/>
              </a:lnSpc>
              <a:buFont typeface="Arial"/>
              <a:buChar char="•"/>
            </a:pPr>
            <a:r>
              <a:rPr lang="en-US" sz="3374" i="true">
                <a:solidFill>
                  <a:srgbClr val="000000"/>
                </a:solidFill>
                <a:latin typeface="Alice Bold Italics"/>
                <a:ea typeface="Alice Bold Italics"/>
                <a:cs typeface="Alice Bold Italics"/>
                <a:sym typeface="Alice Bold Italics"/>
              </a:rPr>
              <a:t>Carte sous forme de grille bidimensionnelle.</a:t>
            </a:r>
          </a:p>
          <a:p>
            <a:pPr algn="l">
              <a:lnSpc>
                <a:spcPts val="4724"/>
              </a:lnSpc>
            </a:pPr>
          </a:p>
          <a:p>
            <a:pPr algn="l" marL="728573" indent="-364287" lvl="1">
              <a:lnSpc>
                <a:spcPts val="4724"/>
              </a:lnSpc>
              <a:buFont typeface="Arial"/>
              <a:buChar char="•"/>
            </a:pPr>
            <a:r>
              <a:rPr lang="en-US" sz="3374" i="true" spc="145">
                <a:solidFill>
                  <a:srgbClr val="000000"/>
                </a:solidFill>
                <a:latin typeface="Alice Bold Italics"/>
                <a:ea typeface="Alice Bold Italics"/>
                <a:cs typeface="Alice Bold Italics"/>
                <a:sym typeface="Alice Bold Italics"/>
              </a:rPr>
              <a:t>Types de terrains :</a:t>
            </a:r>
          </a:p>
          <a:p>
            <a:pPr algn="l">
              <a:lnSpc>
                <a:spcPts val="4283"/>
              </a:lnSpc>
            </a:pPr>
          </a:p>
          <a:p>
            <a:pPr algn="l">
              <a:lnSpc>
                <a:spcPts val="4283"/>
              </a:lnSpc>
            </a:pPr>
            <a:r>
              <a:rPr lang="en-US" sz="2874" i="true" spc="123">
                <a:solidFill>
                  <a:srgbClr val="000000"/>
                </a:solidFill>
                <a:latin typeface="Alice Bold Italics"/>
                <a:ea typeface="Alice Bold Italics"/>
                <a:cs typeface="Alice Bold Italics"/>
                <a:sym typeface="Alice Bold Italics"/>
              </a:rPr>
              <a:t>          </a:t>
            </a:r>
            <a:r>
              <a:rPr lang="en-US" sz="2874" i="true" spc="123">
                <a:solidFill>
                  <a:srgbClr val="000000"/>
                </a:solidFill>
                <a:latin typeface="Alice Bold Italics"/>
                <a:ea typeface="Alice Bold Italics"/>
                <a:cs typeface="Alice Bold Italics"/>
                <a:sym typeface="Alice Bold Italics"/>
              </a:rPr>
              <a:t>GRASS🍀 (accessible)</a:t>
            </a:r>
          </a:p>
          <a:p>
            <a:pPr algn="l">
              <a:lnSpc>
                <a:spcPts val="4283"/>
              </a:lnSpc>
            </a:pPr>
            <a:r>
              <a:rPr lang="en-US" sz="2874" i="true" spc="123">
                <a:solidFill>
                  <a:srgbClr val="000000"/>
                </a:solidFill>
                <a:latin typeface="Alice Bold Italics"/>
                <a:ea typeface="Alice Bold Italics"/>
                <a:cs typeface="Alice Bold Italics"/>
                <a:sym typeface="Alice Bold Italics"/>
              </a:rPr>
              <a:t>           WATER🌊 (non accessible)</a:t>
            </a:r>
          </a:p>
          <a:p>
            <a:pPr algn="l">
              <a:lnSpc>
                <a:spcPts val="4283"/>
              </a:lnSpc>
            </a:pPr>
            <a:r>
              <a:rPr lang="en-US" sz="2874" i="true" spc="123">
                <a:solidFill>
                  <a:srgbClr val="000000"/>
                </a:solidFill>
                <a:latin typeface="Alice Bold Italics"/>
                <a:ea typeface="Alice Bold Italics"/>
                <a:cs typeface="Alice Bold Italics"/>
                <a:sym typeface="Alice Bold Italics"/>
              </a:rPr>
              <a:t>            MOUNTAIN⛰️ (bonus défense)</a:t>
            </a:r>
          </a:p>
          <a:p>
            <a:pPr algn="l">
              <a:lnSpc>
                <a:spcPts val="4724"/>
              </a:lnSpc>
            </a:pPr>
          </a:p>
          <a:p>
            <a:pPr algn="l" marL="728573" indent="-364287" lvl="1">
              <a:lnSpc>
                <a:spcPts val="4724"/>
              </a:lnSpc>
              <a:buFont typeface="Arial"/>
              <a:buChar char="•"/>
            </a:pPr>
            <a:r>
              <a:rPr lang="en-US" sz="3374" i="true">
                <a:solidFill>
                  <a:srgbClr val="000000"/>
                </a:solidFill>
                <a:latin typeface="Alice Bold Italics"/>
                <a:ea typeface="Alice Bold Italics"/>
                <a:cs typeface="Alice Bold Italics"/>
                <a:sym typeface="Alice Bold Italics"/>
              </a:rPr>
              <a:t>Déplacements</a:t>
            </a:r>
          </a:p>
          <a:p>
            <a:pPr algn="l">
              <a:lnSpc>
                <a:spcPts val="4724"/>
              </a:lnSpc>
            </a:pPr>
          </a:p>
          <a:p>
            <a:pPr algn="l">
              <a:lnSpc>
                <a:spcPts val="4724"/>
              </a:lnSpc>
            </a:pPr>
            <a:r>
              <a:rPr lang="en-US" sz="3374" i="true">
                <a:solidFill>
                  <a:srgbClr val="000000"/>
                </a:solidFill>
                <a:latin typeface="Alice Bold Italics"/>
                <a:ea typeface="Alice Bold Italics"/>
                <a:cs typeface="Alice Bold Italics"/>
                <a:sym typeface="Alice Bold Italics"/>
              </a:rPr>
              <a:t>   </a:t>
            </a:r>
            <a:r>
              <a:rPr lang="en-US" sz="3374" i="true">
                <a:solidFill>
                  <a:srgbClr val="000000"/>
                </a:solidFill>
                <a:latin typeface="Alice Bold Italics"/>
                <a:ea typeface="Alice Bold Italics"/>
                <a:cs typeface="Alice Bold Italics"/>
                <a:sym typeface="Alice Bold Italics"/>
              </a:rPr>
              <a:t>Vérif limites + accessibilité + validation avant déplacement</a:t>
            </a:r>
          </a:p>
          <a:p>
            <a:pPr algn="l">
              <a:lnSpc>
                <a:spcPts val="4724"/>
              </a:lnSpc>
            </a:pPr>
            <a:r>
              <a:rPr lang="en-US" sz="3374" i="true">
                <a:solidFill>
                  <a:srgbClr val="000000"/>
                </a:solidFill>
                <a:latin typeface="Alice Bold Italics"/>
                <a:ea typeface="Alice Bold Italics"/>
                <a:cs typeface="Alice Bold Italics"/>
                <a:sym typeface="Alice Bold Italics"/>
              </a:rPr>
              <a:t>    Bonus appliqué selon terrain</a:t>
            </a:r>
          </a:p>
          <a:p>
            <a:pPr algn="l">
              <a:lnSpc>
                <a:spcPts val="4724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2873441" y="-303400"/>
            <a:ext cx="4802676" cy="4802676"/>
          </a:xfrm>
          <a:custGeom>
            <a:avLst/>
            <a:gdLst/>
            <a:ahLst/>
            <a:cxnLst/>
            <a:rect r="r" b="b" t="t" l="l"/>
            <a:pathLst>
              <a:path h="4802676" w="4802676">
                <a:moveTo>
                  <a:pt x="0" y="0"/>
                </a:moveTo>
                <a:lnTo>
                  <a:pt x="4802676" y="0"/>
                </a:lnTo>
                <a:lnTo>
                  <a:pt x="4802676" y="4802676"/>
                </a:lnTo>
                <a:lnTo>
                  <a:pt x="0" y="48026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06243" y="351206"/>
            <a:ext cx="4820543" cy="1212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40"/>
              </a:lnSpc>
            </a:pPr>
            <a:r>
              <a:rPr lang="en-US" sz="7029" i="true">
                <a:solidFill>
                  <a:srgbClr val="004AAD"/>
                </a:solidFill>
                <a:latin typeface="Alice Bold Italics"/>
                <a:ea typeface="Alice Bold Italics"/>
                <a:cs typeface="Alice Bold Italics"/>
                <a:sym typeface="Alice Bold Italics"/>
              </a:rPr>
              <a:t>Carte de Jeu</a:t>
            </a:r>
          </a:p>
        </p:txBody>
      </p: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34445" y="2467881"/>
            <a:ext cx="11447009" cy="5275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44"/>
              </a:lnSpc>
            </a:pPr>
            <a:r>
              <a:rPr lang="en-US" sz="3746" i="true">
                <a:solidFill>
                  <a:srgbClr val="000000"/>
                </a:solidFill>
                <a:latin typeface="Alice Bold Italics"/>
                <a:ea typeface="Alice Bold Italics"/>
                <a:cs typeface="Alice Bold Italics"/>
                <a:sym typeface="Alice Bold Italics"/>
              </a:rPr>
              <a:t>Unit (classe mère abstraite)</a:t>
            </a:r>
          </a:p>
          <a:p>
            <a:pPr algn="l" marL="679301" indent="-339651" lvl="1">
              <a:lnSpc>
                <a:spcPts val="4404"/>
              </a:lnSpc>
              <a:buFont typeface="Arial"/>
              <a:buChar char="•"/>
            </a:pPr>
            <a:r>
              <a:rPr lang="en-US" sz="3146" i="true">
                <a:solidFill>
                  <a:srgbClr val="000000"/>
                </a:solidFill>
                <a:latin typeface="Alice Bold Italics"/>
                <a:ea typeface="Alice Bold Italics"/>
                <a:cs typeface="Alice Bold Italics"/>
                <a:sym typeface="Alice Bold Italics"/>
              </a:rPr>
              <a:t>Attributs communs : vie, attaque, défense, portée, position…</a:t>
            </a:r>
          </a:p>
          <a:p>
            <a:pPr algn="l">
              <a:lnSpc>
                <a:spcPts val="4404"/>
              </a:lnSpc>
            </a:pPr>
          </a:p>
          <a:p>
            <a:pPr algn="l">
              <a:lnSpc>
                <a:spcPts val="5244"/>
              </a:lnSpc>
            </a:pPr>
            <a:r>
              <a:rPr lang="en-US" sz="3746" i="true">
                <a:solidFill>
                  <a:srgbClr val="000000"/>
                </a:solidFill>
                <a:latin typeface="Alice Bold Italics"/>
                <a:ea typeface="Alice Bold Italics"/>
                <a:cs typeface="Alice Bold Italics"/>
                <a:sym typeface="Alice Bold Italics"/>
              </a:rPr>
              <a:t> Héritage : classes filles</a:t>
            </a:r>
          </a:p>
          <a:p>
            <a:pPr algn="l" marL="679301" indent="-339651" lvl="1">
              <a:lnSpc>
                <a:spcPts val="4404"/>
              </a:lnSpc>
              <a:buFont typeface="Arial"/>
              <a:buChar char="•"/>
            </a:pPr>
            <a:r>
              <a:rPr lang="en-US" sz="3146" i="true">
                <a:solidFill>
                  <a:srgbClr val="000000"/>
                </a:solidFill>
                <a:latin typeface="Alice Bold Italics"/>
                <a:ea typeface="Alice Bold Italics"/>
                <a:cs typeface="Alice Bold Italics"/>
                <a:sym typeface="Alice Bold Italics"/>
              </a:rPr>
              <a:t>Soldier, Archer, Cavalier, Magicien, Tank…</a:t>
            </a:r>
          </a:p>
          <a:p>
            <a:pPr algn="l">
              <a:lnSpc>
                <a:spcPts val="4404"/>
              </a:lnSpc>
            </a:pPr>
          </a:p>
          <a:p>
            <a:pPr algn="l">
              <a:lnSpc>
                <a:spcPts val="5244"/>
              </a:lnSpc>
            </a:pPr>
            <a:r>
              <a:rPr lang="en-US" sz="3746" i="true">
                <a:solidFill>
                  <a:srgbClr val="000000"/>
                </a:solidFill>
                <a:latin typeface="Alice Bold Italics"/>
                <a:ea typeface="Alice Bold Italics"/>
                <a:cs typeface="Alice Bold Italics"/>
                <a:sym typeface="Alice Bold Italics"/>
              </a:rPr>
              <a:t> Combat</a:t>
            </a:r>
          </a:p>
          <a:p>
            <a:pPr algn="l" marL="679301" indent="-339651" lvl="1">
              <a:lnSpc>
                <a:spcPts val="4404"/>
              </a:lnSpc>
              <a:buFont typeface="Arial"/>
              <a:buChar char="•"/>
            </a:pPr>
            <a:r>
              <a:rPr lang="en-US" sz="3146" i="true">
                <a:solidFill>
                  <a:srgbClr val="000000"/>
                </a:solidFill>
                <a:latin typeface="Alice Bold Italics"/>
                <a:ea typeface="Alice Bold Italics"/>
                <a:cs typeface="Alice Bold Italics"/>
                <a:sym typeface="Alice Bold Italics"/>
              </a:rPr>
              <a:t>Vérif portée + calcul dégâts + prise en compte défense</a:t>
            </a:r>
          </a:p>
          <a:p>
            <a:pPr algn="l" marL="679301" indent="-339651" lvl="1">
              <a:lnSpc>
                <a:spcPts val="4404"/>
              </a:lnSpc>
              <a:buFont typeface="Arial"/>
              <a:buChar char="•"/>
            </a:pPr>
            <a:r>
              <a:rPr lang="en-US" sz="3146" i="true">
                <a:solidFill>
                  <a:srgbClr val="000000"/>
                </a:solidFill>
                <a:latin typeface="Alice Bold Italics"/>
                <a:ea typeface="Alice Bold Italics"/>
                <a:cs typeface="Alice Bold Italics"/>
                <a:sym typeface="Alice Bold Italics"/>
              </a:rPr>
              <a:t>Mort d’une unité → suppression du jeu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3864075" y="0"/>
            <a:ext cx="4423925" cy="4423925"/>
          </a:xfrm>
          <a:custGeom>
            <a:avLst/>
            <a:gdLst/>
            <a:ahLst/>
            <a:cxnLst/>
            <a:rect r="r" b="b" t="t" l="l"/>
            <a:pathLst>
              <a:path h="4423925" w="4423925">
                <a:moveTo>
                  <a:pt x="0" y="0"/>
                </a:moveTo>
                <a:lnTo>
                  <a:pt x="4423925" y="0"/>
                </a:lnTo>
                <a:lnTo>
                  <a:pt x="4423925" y="4423925"/>
                </a:lnTo>
                <a:lnTo>
                  <a:pt x="0" y="44239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-4358271" y="346081"/>
            <a:ext cx="15931055" cy="1212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00"/>
              </a:lnSpc>
            </a:pPr>
            <a:r>
              <a:rPr lang="en-US" sz="7000" i="true">
                <a:solidFill>
                  <a:srgbClr val="2C4DB4"/>
                </a:solidFill>
                <a:latin typeface="Alice Bold Italics"/>
                <a:ea typeface="Alice Bold Italics"/>
                <a:cs typeface="Alice Bold Italics"/>
                <a:sym typeface="Alice Bold Italics"/>
              </a:rPr>
              <a:t>Unité et Combat</a:t>
            </a:r>
          </a:p>
        </p:txBody>
      </p: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74366" y="3396796"/>
            <a:ext cx="15626018" cy="4885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58"/>
              </a:lnSpc>
              <a:spcBef>
                <a:spcPct val="0"/>
              </a:spcBef>
            </a:pPr>
            <a:r>
              <a:rPr lang="en-US" sz="4613" i="true">
                <a:solidFill>
                  <a:srgbClr val="000000"/>
                </a:solidFill>
                <a:latin typeface="Alice Bold Italics"/>
                <a:ea typeface="Alice Bold Italics"/>
                <a:cs typeface="Alice Bold Italics"/>
                <a:sym typeface="Alice Bold Italics"/>
              </a:rPr>
              <a:t>Bâtiments</a:t>
            </a:r>
          </a:p>
          <a:p>
            <a:pPr algn="l" marL="801730" indent="-400865" lvl="1">
              <a:lnSpc>
                <a:spcPts val="5198"/>
              </a:lnSpc>
              <a:buFont typeface="Arial"/>
              <a:buChar char="•"/>
            </a:pPr>
            <a:r>
              <a:rPr lang="en-US" sz="3713" i="true">
                <a:solidFill>
                  <a:srgbClr val="000000"/>
                </a:solidFill>
                <a:latin typeface="Alice Bold Italics"/>
                <a:ea typeface="Alice Bold Italics"/>
                <a:cs typeface="Alice Bold Italics"/>
                <a:sym typeface="Alice Bold Italics"/>
              </a:rPr>
              <a:t>Centre de commandement, Camp d’entraînement, Mine/Ferme/Scierie</a:t>
            </a:r>
          </a:p>
          <a:p>
            <a:pPr algn="l" marL="801730" indent="-400865" lvl="1">
              <a:lnSpc>
                <a:spcPts val="5198"/>
              </a:lnSpc>
              <a:buFont typeface="Arial"/>
              <a:buChar char="•"/>
            </a:pPr>
            <a:r>
              <a:rPr lang="en-US" sz="3713" i="true">
                <a:solidFill>
                  <a:srgbClr val="000000"/>
                </a:solidFill>
                <a:latin typeface="Alice Bold Italics"/>
                <a:ea typeface="Alice Bold Italics"/>
                <a:cs typeface="Alice Bold Italics"/>
                <a:sym typeface="Alice Bold Italics"/>
              </a:rPr>
              <a:t>Coût + temps de construction + production automatique</a:t>
            </a:r>
          </a:p>
          <a:p>
            <a:pPr algn="l">
              <a:lnSpc>
                <a:spcPts val="5198"/>
              </a:lnSpc>
              <a:spcBef>
                <a:spcPct val="0"/>
              </a:spcBef>
            </a:pPr>
          </a:p>
          <a:p>
            <a:pPr algn="l">
              <a:lnSpc>
                <a:spcPts val="6178"/>
              </a:lnSpc>
              <a:spcBef>
                <a:spcPct val="0"/>
              </a:spcBef>
            </a:pPr>
            <a:r>
              <a:rPr lang="en-US" sz="4413" i="true">
                <a:solidFill>
                  <a:srgbClr val="000000"/>
                </a:solidFill>
                <a:latin typeface="Alice Bold Italics"/>
                <a:ea typeface="Alice Bold Italics"/>
                <a:cs typeface="Alice Bold Italics"/>
                <a:sym typeface="Alice Bold Italics"/>
              </a:rPr>
              <a:t> Interface console</a:t>
            </a:r>
          </a:p>
          <a:p>
            <a:pPr algn="l" marL="801730" indent="-400865" lvl="1">
              <a:lnSpc>
                <a:spcPts val="5198"/>
              </a:lnSpc>
              <a:buFont typeface="Arial"/>
              <a:buChar char="•"/>
            </a:pPr>
            <a:r>
              <a:rPr lang="en-US" sz="3713" i="true">
                <a:solidFill>
                  <a:srgbClr val="000000"/>
                </a:solidFill>
                <a:latin typeface="Alice Bold Italics"/>
                <a:ea typeface="Alice Bold Italics"/>
                <a:cs typeface="Alice Bold Italics"/>
                <a:sym typeface="Alice Bold Italics"/>
              </a:rPr>
              <a:t>Menu : nouvelle partie / charger / quitter</a:t>
            </a:r>
          </a:p>
          <a:p>
            <a:pPr algn="l" marL="801730" indent="-400865" lvl="1">
              <a:lnSpc>
                <a:spcPts val="5198"/>
              </a:lnSpc>
              <a:buFont typeface="Arial"/>
              <a:buChar char="•"/>
            </a:pPr>
            <a:r>
              <a:rPr lang="en-US" sz="3713" i="true">
                <a:solidFill>
                  <a:srgbClr val="000000"/>
                </a:solidFill>
                <a:latin typeface="Alice Bold Italics"/>
                <a:ea typeface="Alice Bold Italics"/>
                <a:cs typeface="Alice Bold Italics"/>
                <a:sym typeface="Alice Bold Italics"/>
              </a:rPr>
              <a:t>Affichage : carte ASCII + ressources + unités + messages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3472113" y="0"/>
            <a:ext cx="4190149" cy="4190149"/>
          </a:xfrm>
          <a:custGeom>
            <a:avLst/>
            <a:gdLst/>
            <a:ahLst/>
            <a:cxnLst/>
            <a:rect r="r" b="b" t="t" l="l"/>
            <a:pathLst>
              <a:path h="4190149" w="4190149">
                <a:moveTo>
                  <a:pt x="0" y="0"/>
                </a:moveTo>
                <a:lnTo>
                  <a:pt x="4190149" y="0"/>
                </a:lnTo>
                <a:lnTo>
                  <a:pt x="4190149" y="4190149"/>
                </a:lnTo>
                <a:lnTo>
                  <a:pt x="0" y="41901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74366" y="339096"/>
            <a:ext cx="8769634" cy="1236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sz="7200" i="true">
                <a:solidFill>
                  <a:srgbClr val="004AAD"/>
                </a:solidFill>
                <a:latin typeface="Alice Bold Italics"/>
                <a:ea typeface="Alice Bold Italics"/>
                <a:cs typeface="Alice Bold Italics"/>
                <a:sym typeface="Alice Bold Italics"/>
              </a:rPr>
              <a:t>Bâtiment et Interface</a:t>
            </a:r>
          </a:p>
        </p:txBody>
      </p: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68306" y="1831975"/>
            <a:ext cx="16043324" cy="7426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00"/>
              </a:lnSpc>
            </a:pPr>
            <a:r>
              <a:rPr lang="en-US" sz="3500" i="true">
                <a:solidFill>
                  <a:srgbClr val="000000"/>
                </a:solidFill>
                <a:latin typeface="Alice Bold Italics"/>
                <a:ea typeface="Alice Bold Italics"/>
                <a:cs typeface="Alice Bold Italics"/>
                <a:sym typeface="Alice Bold Italics"/>
              </a:rPr>
              <a:t>Langage : Java</a:t>
            </a:r>
          </a:p>
          <a:p>
            <a:pPr algn="just">
              <a:lnSpc>
                <a:spcPts val="4900"/>
              </a:lnSpc>
            </a:pPr>
            <a:r>
              <a:rPr lang="en-US" sz="3500" i="true">
                <a:solidFill>
                  <a:srgbClr val="000000"/>
                </a:solidFill>
                <a:latin typeface="Alice Bold Italics"/>
                <a:ea typeface="Alice Bold Italics"/>
                <a:cs typeface="Alice Bold Italics"/>
                <a:sym typeface="Alice Bold Italics"/>
              </a:rPr>
              <a:t>Environnement de développement : Eclipse</a:t>
            </a:r>
          </a:p>
          <a:p>
            <a:pPr algn="just">
              <a:lnSpc>
                <a:spcPts val="4900"/>
              </a:lnSpc>
            </a:pPr>
          </a:p>
          <a:p>
            <a:pPr algn="just">
              <a:lnSpc>
                <a:spcPts val="4900"/>
              </a:lnSpc>
            </a:pPr>
            <a:r>
              <a:rPr lang="en-US" sz="3500" i="true">
                <a:solidFill>
                  <a:srgbClr val="000000"/>
                </a:solidFill>
                <a:latin typeface="Alice Bold Italics"/>
                <a:ea typeface="Alice Bold Italics"/>
                <a:cs typeface="Alice Bold Italics"/>
                <a:sym typeface="Alice Bold Italics"/>
              </a:rPr>
              <a:t>Programmation Orientée Objet (POO) :</a:t>
            </a:r>
          </a:p>
          <a:p>
            <a:pPr algn="just">
              <a:lnSpc>
                <a:spcPts val="4900"/>
              </a:lnSpc>
            </a:pPr>
            <a:r>
              <a:rPr lang="en-US" sz="3500" i="true">
                <a:solidFill>
                  <a:srgbClr val="000000"/>
                </a:solidFill>
                <a:latin typeface="Alice Bold Italics"/>
                <a:ea typeface="Alice Bold Italics"/>
                <a:cs typeface="Alice Bold Italics"/>
                <a:sym typeface="Alice Bold Italics"/>
              </a:rPr>
              <a:t>encapsulation</a:t>
            </a:r>
          </a:p>
          <a:p>
            <a:pPr algn="just">
              <a:lnSpc>
                <a:spcPts val="4900"/>
              </a:lnSpc>
            </a:pPr>
            <a:r>
              <a:rPr lang="en-US" sz="3500" i="true">
                <a:solidFill>
                  <a:srgbClr val="000000"/>
                </a:solidFill>
                <a:latin typeface="Alice Bold Italics"/>
                <a:ea typeface="Alice Bold Italics"/>
                <a:cs typeface="Alice Bold Italics"/>
                <a:sym typeface="Alice Bold Italics"/>
              </a:rPr>
              <a:t>héritage</a:t>
            </a:r>
          </a:p>
          <a:p>
            <a:pPr algn="just">
              <a:lnSpc>
                <a:spcPts val="4900"/>
              </a:lnSpc>
            </a:pPr>
            <a:r>
              <a:rPr lang="en-US" sz="3500" i="true">
                <a:solidFill>
                  <a:srgbClr val="000000"/>
                </a:solidFill>
                <a:latin typeface="Alice Bold Italics"/>
                <a:ea typeface="Alice Bold Italics"/>
                <a:cs typeface="Alice Bold Italics"/>
                <a:sym typeface="Alice Bold Italics"/>
              </a:rPr>
              <a:t>abstraction</a:t>
            </a:r>
          </a:p>
          <a:p>
            <a:pPr algn="just">
              <a:lnSpc>
                <a:spcPts val="4900"/>
              </a:lnSpc>
            </a:pPr>
            <a:r>
              <a:rPr lang="en-US" sz="3500" i="true">
                <a:solidFill>
                  <a:srgbClr val="000000"/>
                </a:solidFill>
                <a:latin typeface="Alice Bold Italics"/>
                <a:ea typeface="Alice Bold Italics"/>
                <a:cs typeface="Alice Bold Italics"/>
                <a:sym typeface="Alice Bold Italics"/>
              </a:rPr>
              <a:t>polymorphisme</a:t>
            </a:r>
          </a:p>
          <a:p>
            <a:pPr algn="just">
              <a:lnSpc>
                <a:spcPts val="4900"/>
              </a:lnSpc>
            </a:pPr>
          </a:p>
          <a:p>
            <a:pPr algn="just">
              <a:lnSpc>
                <a:spcPts val="4900"/>
              </a:lnSpc>
            </a:pPr>
            <a:r>
              <a:rPr lang="en-US" sz="3500" i="true">
                <a:solidFill>
                  <a:srgbClr val="000000"/>
                </a:solidFill>
                <a:latin typeface="Alice Bold Italics"/>
                <a:ea typeface="Alice Bold Italics"/>
                <a:cs typeface="Alice Bold Italics"/>
                <a:sym typeface="Alice Bold Italics"/>
              </a:rPr>
              <a:t>Principes SOLID pour assurer un code maintenable et extensible</a:t>
            </a:r>
          </a:p>
          <a:p>
            <a:pPr algn="just">
              <a:lnSpc>
                <a:spcPts val="4900"/>
              </a:lnSpc>
            </a:pPr>
          </a:p>
          <a:p>
            <a:pPr algn="just">
              <a:lnSpc>
                <a:spcPts val="4900"/>
              </a:lnSpc>
            </a:pPr>
            <a:r>
              <a:rPr lang="en-US" sz="3500" i="true">
                <a:solidFill>
                  <a:srgbClr val="000000"/>
                </a:solidFill>
                <a:latin typeface="Alice Bold Italics"/>
                <a:ea typeface="Alice Bold Italics"/>
                <a:cs typeface="Alice Bold Italics"/>
                <a:sym typeface="Alice Bold Italics"/>
              </a:rPr>
              <a:t>Gestion de version : Git / GitHub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3464722" y="542997"/>
            <a:ext cx="3794578" cy="3794578"/>
          </a:xfrm>
          <a:custGeom>
            <a:avLst/>
            <a:gdLst/>
            <a:ahLst/>
            <a:cxnLst/>
            <a:rect r="r" b="b" t="t" l="l"/>
            <a:pathLst>
              <a:path h="3794578" w="3794578">
                <a:moveTo>
                  <a:pt x="0" y="0"/>
                </a:moveTo>
                <a:lnTo>
                  <a:pt x="3794578" y="0"/>
                </a:lnTo>
                <a:lnTo>
                  <a:pt x="3794578" y="3794579"/>
                </a:lnTo>
                <a:lnTo>
                  <a:pt x="0" y="37945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68306" y="400122"/>
            <a:ext cx="11841659" cy="1114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32"/>
              </a:lnSpc>
            </a:pPr>
            <a:r>
              <a:rPr lang="en-US" sz="6380" i="true">
                <a:solidFill>
                  <a:srgbClr val="004AAD"/>
                </a:solidFill>
                <a:latin typeface="Alice Bold Italics"/>
                <a:ea typeface="Alice Bold Italics"/>
                <a:cs typeface="Alice Bold Italics"/>
                <a:sym typeface="Alice Bold Italics"/>
              </a:rPr>
              <a:t>Technologies et concepts utilisés</a:t>
            </a:r>
          </a:p>
        </p:txBody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DAG-ZfdtwBI</dc:identifier>
  <dcterms:modified xsi:type="dcterms:W3CDTF">2011-08-01T06:04:30Z</dcterms:modified>
  <cp:revision>1</cp:revision>
  <dc:title>Présentation Projet POO</dc:title>
</cp:coreProperties>
</file>